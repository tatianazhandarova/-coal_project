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Economica"/>
      <p:regular r:id="rId17"/>
      <p:bold r:id="rId18"/>
      <p:italic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conomica-regular.fntdata"/><Relationship Id="rId16" Type="http://schemas.openxmlformats.org/officeDocument/2006/relationships/slide" Target="slides/slide11.xml"/><Relationship Id="rId19" Type="http://schemas.openxmlformats.org/officeDocument/2006/relationships/font" Target="fonts/Economica-italic.fntdata"/><Relationship Id="rId18" Type="http://schemas.openxmlformats.org/officeDocument/2006/relationships/font" Target="fonts/Economic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Данный отчет основан на анализе четырех наборов данных, связанных с хранением угля на складах (3, 4, 6) в период 2019–2020 годов (с погодными данными за 2015–2021):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Char char="●"/>
            </a:pPr>
            <a:r>
              <a:rPr lang="ru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fires.csv: Инциденты (486 записей).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Char char="●"/>
            </a:pPr>
            <a:r>
              <a:rPr lang="ru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temperature.csv: Температуры в штабелях (4106 записей).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Char char="●"/>
            </a:pPr>
            <a:r>
              <a:rPr lang="ru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supplies.csv: Поставки угля (6323 записи).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Char char="●"/>
            </a:pPr>
            <a:r>
              <a:rPr lang="ru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all_weather.csv: Погода (61320 почасовых записей; получен путем соединения </a:t>
            </a:r>
            <a:r>
              <a:rPr lang="ru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представленных</a:t>
            </a:r>
            <a:r>
              <a:rPr lang="ru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таблиц о погоде за 2015-2021 гг.)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932771de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932771de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Целью является выявить закономерности в инцидентах (нагревах/пожарах), связать их с температурами, объемами хранения и погодой, а также предоставить рекомендации для управления рисками.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932771de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932771de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Предобработка данных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Даты: В</a:t>
            </a: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се временные колонки преобразованы в datetime.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Погода: Агрегирована до дневных значений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Инциденты: Рассчитана длительность как разница между Дата оконч. и Дата начала.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Фильтрация: Данные ограничены 2019–2020 годами для fires, temperatures, supplies (период активности инцидентов). Погода использована для корреляций.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Анализ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Статистика: </a:t>
            </a: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Подсчет</a:t>
            </a: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инцидентов, температур, объёмов по складам/штабелям.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Визуализация: Построены графики на Plotly: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Количество инцидентов по месяцам.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Топ-10 штабелей по средней максимальной температуре.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Температура в штабелях vs. уличная температура.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Объем</a:t>
            </a: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поставок vs. число инцидентов.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Доля инцидентов по складам.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Динамика температуры в проблемном штабеле (6-4).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Тепловая карта высоких температур (&gt;60°C).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Корреляции: Оценены связи между температурой штабелей, погодой и </a:t>
            </a: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объемами</a:t>
            </a: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932771de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932771de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Общая статистика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Инциденты (fires.csv):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486 записей, в основном груз A1 (98%).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Склады: 6 (47% инцидентов), 4 (40%), 3 (13%).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Средняя длительность инцидента: ~12 часов.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Температуры (temperature.csv):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4106 измерений, максимум 243°C (склад 6, штабель 4).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547 случаев &gt;50°C, 112 случаев &gt;100°C.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Поставки (supplies.csv):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Общий вес: миллионы тонн (A1, C3, E5).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Склад 4: самые большие объёмы (46% от общего веса).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Погода (all_weather.csv):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Температура: от -2.7°C до +38°C (средняя ~10°C).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Влажность: 60–100% (средняя 80%).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Осадки: до 0.8 мм/ч (обычно 0).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932771de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932771de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AutoNum type="arabicPeriod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Сезонность инцидентов: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Пик в июле–сентябре 2019 и 2020 (лето/осень), до 40 инцидентов в месяц.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Минимум зимой (декабрь–февраль, &lt;10 инцидентов/месяц).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Вывод: Теплая погода (высокая температура, низкая влажность) увеличивает риск нагревов/пожаров.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AutoNum type="arabicPeriod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Проблемные штабеля: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Топ-5 по средней максимальной температуре: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Склад 6, штабель 4 (~82°C).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Склад 6, штабель 1 (~80°C).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Склад 4, штабель 39 (~73°C).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Склад 3, штабель 33 (~60°C).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Склад 4, штабель 3 (~47°C).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Топ по числу инцидентов: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Склад 6, штабель 1 (115 инцидентов).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Склад 6, штабель 4 (70).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Склад 4, штабель 39 (59).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Вывод: Штабеля 6-1, 6-4, 4-39 — наиболее рискованные (высокие температуры и частые инциденты).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932771de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932771de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Температура штабелей vs. погода: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Корреляция между максимальной температурой штабелей и уличной температурой: +0.28 (p&lt;0.0001).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августе–сентябре 2020 (уличная температура ~25–30°C) зафиксированы пики до 243°C в штабелях.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Влажность: слабая отрицательная корреляция (-0.12, p&lt;0.0001). Низкая влажность (&lt;70%) связана с нагревами.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Осадки и ветер: слабое влияние (ветер -0.04, p=0.0068; осадки не значимы).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Вывод: Жаркая и сухая погода усиливает нагрев угля, особенно в летние месяцы.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932771de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932771de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Объём поставок и риски: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Корреляция между общим весом в штабеле и числом инцидентов: ~0.3–0.4.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Штабеля с весом &gt;1 млн тн (например, 4-39: 1.9 млн тн, 4-46: 3.3 млн тн) имеют больше инцидентов.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Вывод: Большие </a:t>
            </a: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объемы</a:t>
            </a: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увеличивают риск нагрева, возможно, из-за плотности и плохой вентиляции.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932771de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932771de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AutoNum type="arabicPeriod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риски: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Сезонность: Июль–сентябрь — пиковый период для нагревов и инцидентов из-за высоких уличных температур (25–30°C) и низкой влажности (&lt;70%).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Проблемные зоны: Склады 6 (штабеля 1, 4) и 4 (штабель 39) имеют наибольшее число инцидентов и высокие температуры (до 243°C).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Объем</a:t>
            </a: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Штабеля с весом &gt;1 млн тн (например, 4-39, 4-46) чаще подвержены нагревам.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AutoNum type="arabicPeriod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Ключевые факторы: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Высокая уличная температура (+0.28 корреляция) и низкая влажность (-0.12) усиливают нагрев угля.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Большие </a:t>
            </a: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объемы</a:t>
            </a: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 длительное хранение (2–4 месяца) увеличивают риск самовозгорания.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Слабый ветер и отсутствие осадков могут способствовать накоплению тепла.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AutoNum type="arabicPeriod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Критические наблюдения: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Штабель 6-4 регулярно превышает 100°C, что указывает на высокий риск пожара.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Склад 6 (47% инцидентов) требует срочного внимания.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Летние месяцы 2019–2020 показали экспоненциальный рост температур в штабелях.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932771de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932771de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AutoNum type="arabicPeriod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Мониторинг и контроль: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Установить постоянный мониторинг температуры в штабелях 6-1, 6-4, 4-39 (например, датчики с порогами 60°C и 100°C).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Усилить проверки в июле–сентябре, особенно при прогнозе t &gt;25°C и влажности &lt;70%.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AutoNum type="arabicPeriod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Управление </a:t>
            </a: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объемами</a:t>
            </a: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Ограничить размер штабелей до &lt;1 млн тн, особенно на складах 4 и 6.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Регулярно переворачивать уголь (раз в 1–2 месяца) для улучшения вентиляции.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AutoNum type="arabicPeriod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Превентивные меры: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Увеличить полив штабелей в жаркие и сухие периоды для снижения температуры.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Обеспечить вентиляцию (например, искусственные воздушные потоки) в штабелях с большим весом.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AutoNum type="arabicPeriod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Инфраструктура: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Рассмотреть модернизацию склада 6 (47% инцидентов), возможно, из-за плохой вентиляции или плотности хранения.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Провести аудит штабеля 4-39 (1.9 млн тн, 59 инцидентов).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AutoNum type="arabicPeriod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Дальнейший анализ: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Построить ML-модель для предсказания рисков нагрева (на основе температуры, влажности, </a:t>
            </a: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объема</a:t>
            </a: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возраста штабеля).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ru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Исследовать химический состав груза A1 (возможно, уголь с высокой склонностью к самовозгоранию).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932771de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932771de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0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Анализ выявил </a:t>
            </a:r>
            <a:r>
              <a:rPr lang="ru" sz="10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четкие</a:t>
            </a:r>
            <a:r>
              <a:rPr lang="ru" sz="10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 закономерности: жаркая и сухая погода, большие объёмы хранения и </a:t>
            </a:r>
            <a:r>
              <a:rPr lang="ru" sz="10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определенные</a:t>
            </a:r>
            <a:r>
              <a:rPr lang="ru" sz="1000">
                <a:solidFill>
                  <a:srgbClr val="0A0A0A"/>
                </a:solidFill>
                <a:latin typeface="Roboto"/>
                <a:ea typeface="Roboto"/>
                <a:cs typeface="Roboto"/>
                <a:sym typeface="Roboto"/>
              </a:rPr>
              <a:t> штабеля (6-1, 6-4, 4-39) являются основными факторами риска нагревов и инцидентов. Склады 6 и 4 требуют приоритетного внимания, особенно в летние месяцы. Реализация рекомендаций (мониторинг, контроль объёмов, вентиляция) позволит снизить риски пожаров и улучшить безопасность хранения угля.</a:t>
            </a:r>
            <a:endParaRPr sz="10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932771de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932771de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ru" sz="2700"/>
              <a:t>Анализ данных хранения угля</a:t>
            </a:r>
            <a:endParaRPr b="1" sz="2700"/>
          </a:p>
        </p:txBody>
      </p:sp>
      <p:sp>
        <p:nvSpPr>
          <p:cNvPr id="63" name="Google Shape;63;p13"/>
          <p:cNvSpPr txBox="1"/>
          <p:nvPr/>
        </p:nvSpPr>
        <p:spPr>
          <a:xfrm>
            <a:off x="6696725" y="4570600"/>
            <a:ext cx="22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Выполнила: Команда 18.</a:t>
            </a:r>
            <a:endParaRPr b="1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ru" sz="3000"/>
              <a:t>Цель</a:t>
            </a:r>
            <a:endParaRPr sz="3000"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1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Выявить закономерности инцидентов, связать с температурами, </a:t>
            </a:r>
            <a:r>
              <a:rPr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объемами</a:t>
            </a:r>
            <a:r>
              <a:rPr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 и погодой. Рекомендации по управлению рисками.</a:t>
            </a:r>
            <a:endParaRPr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6575" y="2396000"/>
            <a:ext cx="5464365" cy="217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15925"/>
            <a:ext cx="8520600" cy="6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ru" sz="3000"/>
              <a:t>Методология: Подготовка и Анализ</a:t>
            </a:r>
            <a:endParaRPr sz="3000"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025" y="2349900"/>
            <a:ext cx="2638650" cy="62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3650" y="1128796"/>
            <a:ext cx="2638650" cy="596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6825" y="1725475"/>
            <a:ext cx="2638650" cy="6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614025" y="3040700"/>
            <a:ext cx="27729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Предобработка данных</a:t>
            </a:r>
            <a:endParaRPr b="1"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Даты, агрегация погоды, длительность инцидентов, фильтрация по 2019–2020 гг.</a:t>
            </a:r>
            <a:endParaRPr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386825" y="2497575"/>
            <a:ext cx="26388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Анализ и Визуализация</a:t>
            </a:r>
            <a:endParaRPr b="1"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Статистика, графики Plotly: инциденты по месяцам, топ-10 штабелей, корреляции.</a:t>
            </a:r>
            <a:endParaRPr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193650" y="1891850"/>
            <a:ext cx="26388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Корреляции</a:t>
            </a:r>
            <a:endParaRPr b="1"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Связи между температурой штабелей, погодой и объемами.</a:t>
            </a:r>
            <a:endParaRPr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150800"/>
            <a:ext cx="8520600" cy="56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ru" sz="2500"/>
              <a:t>Ключевые Результаты: Общая Статистика</a:t>
            </a:r>
            <a:endParaRPr b="1" sz="2500"/>
          </a:p>
        </p:txBody>
      </p:sp>
      <p:pic>
        <p:nvPicPr>
          <p:cNvPr id="87" name="Google Shape;87;p16" title="statistika-analitik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6500" y="1121150"/>
            <a:ext cx="3458075" cy="34580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311700" y="626600"/>
            <a:ext cx="4634100" cy="23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Инциденты</a:t>
            </a:r>
            <a:endParaRPr b="1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conomica"/>
              <a:buChar char="●"/>
            </a:pPr>
            <a:r>
              <a:rPr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486 записей, 98% груз A1</a:t>
            </a:r>
            <a:endParaRPr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conomica"/>
              <a:buChar char="●"/>
            </a:pPr>
            <a:r>
              <a:rPr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Склады: 6 (47%), 4 (40%), 3 (13%)</a:t>
            </a:r>
            <a:endParaRPr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conomica"/>
              <a:buChar char="●"/>
            </a:pPr>
            <a:r>
              <a:rPr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Средняя длительность: ~12 часов</a:t>
            </a:r>
            <a:endParaRPr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Температуры</a:t>
            </a:r>
            <a:endParaRPr b="1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conomica"/>
              <a:buChar char="●"/>
            </a:pPr>
            <a:r>
              <a:rPr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Максимум 243°C (склад 6, штабель 4)</a:t>
            </a:r>
            <a:endParaRPr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conomica"/>
              <a:buChar char="●"/>
            </a:pPr>
            <a:r>
              <a:rPr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547 случаев &gt;50°C, 112 случаев &gt;100°C</a:t>
            </a:r>
            <a:endParaRPr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11700" y="2905350"/>
            <a:ext cx="42108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Поставки</a:t>
            </a:r>
            <a:endParaRPr b="1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conomica"/>
              <a:buChar char="●"/>
            </a:pPr>
            <a:r>
              <a:rPr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Миллионы тонн (A1, C3, E5)</a:t>
            </a:r>
            <a:endParaRPr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conomica"/>
              <a:buChar char="●"/>
            </a:pPr>
            <a:r>
              <a:rPr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Склад 4: 46% от общего веса</a:t>
            </a:r>
            <a:endParaRPr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Погода</a:t>
            </a:r>
            <a:endParaRPr b="1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conomica"/>
              <a:buChar char="●"/>
            </a:pPr>
            <a:r>
              <a:rPr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Температура: -2.7°C до +38°C (средняя ~10°C)</a:t>
            </a:r>
            <a:endParaRPr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conomica"/>
              <a:buChar char="●"/>
            </a:pPr>
            <a:r>
              <a:rPr lang="ru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Влажность: 60–100% (средняя 80%)</a:t>
            </a:r>
            <a:endParaRPr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99500"/>
            <a:ext cx="8520600" cy="56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500">
                <a:solidFill>
                  <a:srgbClr val="0A0A0A"/>
                </a:solidFill>
              </a:rPr>
              <a:t>Закономерности</a:t>
            </a:r>
            <a:endParaRPr sz="2500"/>
          </a:p>
        </p:txBody>
      </p:sp>
      <p:sp>
        <p:nvSpPr>
          <p:cNvPr id="95" name="Google Shape;95;p17"/>
          <p:cNvSpPr txBox="1"/>
          <p:nvPr/>
        </p:nvSpPr>
        <p:spPr>
          <a:xfrm>
            <a:off x="511800" y="751150"/>
            <a:ext cx="36540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Сезонность инцидентов</a:t>
            </a:r>
            <a:endParaRPr b="1"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Пик: июль–сентябрь (до 40 инцидентов/месяц). Минимум: зима (&lt;10). Теплая погода увеличивает риск.</a:t>
            </a:r>
            <a:endParaRPr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4954975" y="751150"/>
            <a:ext cx="36540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Проблемные штабеля</a:t>
            </a:r>
            <a:endParaRPr b="1"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Топ-5 по средней максимальной температуре: 6-4 (~82°C), 6-1 (~80°C), 4-39 (~73°C). Наиболее рискованные.</a:t>
            </a:r>
            <a:endParaRPr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625" y="2199300"/>
            <a:ext cx="7637249" cy="27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99500"/>
            <a:ext cx="8520600" cy="56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700"/>
              </a:spcAft>
              <a:buNone/>
            </a:pPr>
            <a:r>
              <a:rPr b="1" lang="ru" sz="2500">
                <a:solidFill>
                  <a:srgbClr val="0A0A0A"/>
                </a:solidFill>
              </a:rPr>
              <a:t>Закономерности</a:t>
            </a:r>
            <a:endParaRPr sz="2500"/>
          </a:p>
        </p:txBody>
      </p:sp>
      <p:sp>
        <p:nvSpPr>
          <p:cNvPr id="103" name="Google Shape;103;p18"/>
          <p:cNvSpPr txBox="1"/>
          <p:nvPr/>
        </p:nvSpPr>
        <p:spPr>
          <a:xfrm>
            <a:off x="471050" y="668900"/>
            <a:ext cx="39747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Температура штабелей vs. погода</a:t>
            </a:r>
            <a:endParaRPr b="1" sz="11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Economica"/>
              <a:buChar char="●"/>
            </a:pPr>
            <a:r>
              <a:rPr lang="ru" sz="11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Корреляция с уличной температурой: +0.28</a:t>
            </a:r>
            <a:endParaRPr sz="11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Economica"/>
              <a:buChar char="●"/>
            </a:pPr>
            <a:r>
              <a:rPr lang="ru" sz="11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Пики до 243°C при 25–30°C на улице</a:t>
            </a:r>
            <a:endParaRPr sz="11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Economica"/>
              <a:buChar char="●"/>
            </a:pPr>
            <a:r>
              <a:rPr lang="ru" sz="11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Низкая влажность (&lt;70%) связана с нагревами</a:t>
            </a:r>
            <a:endParaRPr sz="11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Economica"/>
              <a:buChar char="●"/>
            </a:pPr>
            <a:r>
              <a:rPr lang="ru" sz="11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Вывод: Жаркая и сухая погода усиливает нагрев.</a:t>
            </a:r>
            <a:endParaRPr sz="11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000" y="2095250"/>
            <a:ext cx="7682006" cy="28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99500"/>
            <a:ext cx="8520600" cy="56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700"/>
              </a:spcAft>
              <a:buNone/>
            </a:pPr>
            <a:r>
              <a:rPr b="1" lang="ru" sz="2500">
                <a:solidFill>
                  <a:srgbClr val="0A0A0A"/>
                </a:solidFill>
              </a:rPr>
              <a:t>Закономерности</a:t>
            </a:r>
            <a:endParaRPr sz="2500"/>
          </a:p>
        </p:txBody>
      </p:sp>
      <p:sp>
        <p:nvSpPr>
          <p:cNvPr id="110" name="Google Shape;110;p19"/>
          <p:cNvSpPr txBox="1"/>
          <p:nvPr/>
        </p:nvSpPr>
        <p:spPr>
          <a:xfrm>
            <a:off x="4445750" y="668900"/>
            <a:ext cx="42141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Объём поставок и риски</a:t>
            </a:r>
            <a:endParaRPr b="1" sz="11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Economica"/>
              <a:buChar char="●"/>
            </a:pPr>
            <a:r>
              <a:rPr lang="ru" sz="11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Корреляция с числом инцидентов: ~0.3–0.4</a:t>
            </a:r>
            <a:endParaRPr sz="11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Economica"/>
              <a:buChar char="●"/>
            </a:pPr>
            <a:r>
              <a:rPr lang="ru" sz="11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Штабеля &gt;1 млн тн имеют больше инцидентов</a:t>
            </a:r>
            <a:endParaRPr sz="11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Economica"/>
              <a:buChar char="●"/>
            </a:pPr>
            <a:r>
              <a:rPr lang="ru" sz="11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Вывод: Большие объемы увеличивают риск из-за плотности и плохой вентиляции.</a:t>
            </a:r>
            <a:endParaRPr sz="11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38" y="2095275"/>
            <a:ext cx="8257520" cy="28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184450" y="124975"/>
            <a:ext cx="8520600" cy="5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ru" sz="2500"/>
              <a:t>Основные Выводы</a:t>
            </a:r>
            <a:endParaRPr b="1" sz="2500"/>
          </a:p>
        </p:txBody>
      </p:sp>
      <p:pic>
        <p:nvPicPr>
          <p:cNvPr id="117" name="Google Shape;117;p20" title="1045860691_380_0_3111_2048_1920x0_80_0_0_72054791db469ac72d7606ee4fc9009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4725"/>
            <a:ext cx="5038877" cy="4179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0509" y="854725"/>
            <a:ext cx="542925" cy="36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 txBox="1"/>
          <p:nvPr/>
        </p:nvSpPr>
        <p:spPr>
          <a:xfrm>
            <a:off x="5705050" y="854725"/>
            <a:ext cx="30000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Основные риски</a:t>
            </a:r>
            <a:endParaRPr b="1" sz="13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Сезонность (июль–сентябрь), проблемные зоны (склады 6, 4), большие объёмы (&gt;1 млн тн).</a:t>
            </a:r>
            <a:endParaRPr sz="13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5705050" y="2394000"/>
            <a:ext cx="30000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Ключевые факторы</a:t>
            </a:r>
            <a:endParaRPr b="1" sz="13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ru" sz="13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Высокая уличная температура, низкая влажность, большие объёмы и длительное хранение.</a:t>
            </a:r>
            <a:endParaRPr sz="13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5705050" y="3844600"/>
            <a:ext cx="33114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Критические наблюдения</a:t>
            </a:r>
            <a:endParaRPr b="1" sz="13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ru" sz="13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Штабель 6-4 регулярно &gt;100°C. Склад 6 требует срочного внимания. Экспоненциальный рост температур летом.</a:t>
            </a:r>
            <a:endParaRPr sz="13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175875"/>
            <a:ext cx="8520600" cy="56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ru" sz="2500"/>
              <a:t>Рекомендации</a:t>
            </a:r>
            <a:endParaRPr b="1" sz="2500"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275" y="714675"/>
            <a:ext cx="597235" cy="420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/>
        </p:nvSpPr>
        <p:spPr>
          <a:xfrm>
            <a:off x="1043975" y="651025"/>
            <a:ext cx="7788300" cy="9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Мониторинг и контроль</a:t>
            </a:r>
            <a:endParaRPr b="1"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Постоянный мониторинг температуры в штабелях 6-1, 6-4, 4-39. Усилить проверки в июле–сентябре.</a:t>
            </a:r>
            <a:endParaRPr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1012200" y="1623325"/>
            <a:ext cx="71196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Управление </a:t>
            </a:r>
            <a:r>
              <a:rPr b="1"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объемами</a:t>
            </a:r>
            <a:endParaRPr b="1"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Ограничить размер штабелей до &lt;1 млн тн. Регулярно переворачивать уголь.</a:t>
            </a:r>
            <a:endParaRPr sz="15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1043975" y="2463650"/>
            <a:ext cx="75522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Превентивные меры</a:t>
            </a:r>
            <a:endParaRPr b="1"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Увеличить полив в жаркие периоды. Обеспечить вентиляцию.</a:t>
            </a:r>
            <a:endParaRPr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1043975" y="3366075"/>
            <a:ext cx="63300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Инфраструктура</a:t>
            </a:r>
            <a:endParaRPr b="1"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Модернизация склада 6. Аудит штабеля 4-39.</a:t>
            </a:r>
            <a:endParaRPr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1079225" y="4212625"/>
            <a:ext cx="77178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Дальнейший анализ</a:t>
            </a:r>
            <a:endParaRPr b="1"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ML-модель для предсказания рисков. Исследование химического состава груза A1.</a:t>
            </a:r>
            <a:endParaRPr sz="15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315925"/>
            <a:ext cx="8520600" cy="56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ru" sz="2500"/>
              <a:t>Заключение</a:t>
            </a:r>
            <a:endParaRPr sz="2500"/>
          </a:p>
        </p:txBody>
      </p:sp>
      <p:pic>
        <p:nvPicPr>
          <p:cNvPr id="138" name="Google Shape;138;p22" title="76bcb1167b1dcafc9b198f4a13a70ec7.jpg"/>
          <p:cNvPicPr preferRelativeResize="0"/>
          <p:nvPr/>
        </p:nvPicPr>
        <p:blipFill rotWithShape="1">
          <a:blip r:embed="rId3">
            <a:alphaModFix/>
          </a:blip>
          <a:srcRect b="0" l="0" r="30881" t="0"/>
          <a:stretch/>
        </p:blipFill>
        <p:spPr>
          <a:xfrm>
            <a:off x="4699375" y="732200"/>
            <a:ext cx="4444626" cy="428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577525" y="898838"/>
            <a:ext cx="33591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Жаркая и сухая погода, большие объёмы и определённые штабеля (6-1, 6-4, 4-39) — основные факторы риска.</a:t>
            </a:r>
            <a:endParaRPr sz="18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Склады 6 и 4 требуют приоритетного внимания, особенно летом.</a:t>
            </a:r>
            <a:endParaRPr sz="18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accent1"/>
                </a:solidFill>
                <a:latin typeface="Economica"/>
                <a:ea typeface="Economica"/>
                <a:cs typeface="Economica"/>
                <a:sym typeface="Economica"/>
              </a:rPr>
              <a:t>Реализация рекомендаций снизит риски пожаров и улучшит безопасность хранения угля.</a:t>
            </a:r>
            <a:endParaRPr sz="1800">
              <a:solidFill>
                <a:schemeClr val="accent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2688875" y="1658100"/>
            <a:ext cx="3857400" cy="7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500">
                <a:latin typeface="Economica"/>
                <a:ea typeface="Economica"/>
                <a:cs typeface="Economica"/>
                <a:sym typeface="Economica"/>
              </a:rPr>
              <a:t>Спасибо за внимание!</a:t>
            </a:r>
            <a:endParaRPr b="1" sz="25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